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0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>
        <p:scale>
          <a:sx n="110" d="100"/>
          <a:sy n="110" d="100"/>
        </p:scale>
        <p:origin x="-540" y="-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2026-04-07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2026-04-07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2026-04-07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2026-04-07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2026-04-07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2026-04-07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2026-04-07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2026-04-07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2026-04-07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2026-04-07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2026-04-07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2026-04-07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2026-04-07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接连接符 12"/>
          <p:cNvCxnSpPr/>
          <p:nvPr/>
        </p:nvCxnSpPr>
        <p:spPr>
          <a:xfrm rot="5400000">
            <a:off x="4343403" y="3161580"/>
            <a:ext cx="888517" cy="4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1851052" y="356806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568315" y="882650"/>
            <a:ext cx="107442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8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董事会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5574030" y="1530985"/>
            <a:ext cx="107823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8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总经理</a:t>
            </a:r>
          </a:p>
        </p:txBody>
      </p:sp>
      <p:cxnSp>
        <p:nvCxnSpPr>
          <p:cNvPr id="36" name="直接连接符 35"/>
          <p:cNvCxnSpPr/>
          <p:nvPr/>
        </p:nvCxnSpPr>
        <p:spPr>
          <a:xfrm>
            <a:off x="6107430" y="1904365"/>
            <a:ext cx="12065" cy="75882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5459330" y="2299220"/>
            <a:ext cx="1295063" cy="10157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8" name="文本框 37"/>
          <p:cNvSpPr txBox="1"/>
          <p:nvPr/>
        </p:nvSpPr>
        <p:spPr>
          <a:xfrm>
            <a:off x="4608830" y="2105025"/>
            <a:ext cx="1031875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8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财务部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594475" y="2105025"/>
            <a:ext cx="1005205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8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法务部</a:t>
            </a:r>
          </a:p>
        </p:txBody>
      </p:sp>
      <p:cxnSp>
        <p:nvCxnSpPr>
          <p:cNvPr id="40" name="直接连接符 39"/>
          <p:cNvCxnSpPr/>
          <p:nvPr/>
        </p:nvCxnSpPr>
        <p:spPr>
          <a:xfrm flipV="1">
            <a:off x="1613140" y="2656936"/>
            <a:ext cx="9437298" cy="6038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1" name="直接连接符 40"/>
          <p:cNvCxnSpPr/>
          <p:nvPr/>
        </p:nvCxnSpPr>
        <p:spPr>
          <a:xfrm rot="16200000" flipH="1">
            <a:off x="1186134" y="3144326"/>
            <a:ext cx="836761" cy="2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3" name="圆角矩形 42"/>
          <p:cNvSpPr/>
          <p:nvPr/>
        </p:nvSpPr>
        <p:spPr>
          <a:xfrm>
            <a:off x="992036" y="2991808"/>
            <a:ext cx="1233577" cy="337988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营销中心</a:t>
            </a:r>
          </a:p>
        </p:txBody>
      </p:sp>
      <p:sp>
        <p:nvSpPr>
          <p:cNvPr id="47" name="圆角矩形 46"/>
          <p:cNvSpPr/>
          <p:nvPr/>
        </p:nvSpPr>
        <p:spPr>
          <a:xfrm>
            <a:off x="3938270" y="2988945"/>
            <a:ext cx="1660525" cy="39814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生产营运中心</a:t>
            </a:r>
          </a:p>
        </p:txBody>
      </p:sp>
      <p:cxnSp>
        <p:nvCxnSpPr>
          <p:cNvPr id="73" name="直接连接符 72"/>
          <p:cNvCxnSpPr>
            <a:endCxn id="35" idx="0"/>
          </p:cNvCxnSpPr>
          <p:nvPr/>
        </p:nvCxnSpPr>
        <p:spPr>
          <a:xfrm flipH="1">
            <a:off x="6113145" y="1248410"/>
            <a:ext cx="6350" cy="28257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2" name="圆角矩形 11"/>
          <p:cNvSpPr/>
          <p:nvPr/>
        </p:nvSpPr>
        <p:spPr>
          <a:xfrm>
            <a:off x="10317480" y="2973070"/>
            <a:ext cx="1445895" cy="38735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行政中心</a:t>
            </a:r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11033412" y="2654935"/>
            <a:ext cx="635" cy="31813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3496310" y="3581400"/>
            <a:ext cx="2525395" cy="7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6010910" y="3581400"/>
            <a:ext cx="6350" cy="358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圆角矩形 60"/>
          <p:cNvSpPr/>
          <p:nvPr/>
        </p:nvSpPr>
        <p:spPr>
          <a:xfrm>
            <a:off x="5831205" y="3827780"/>
            <a:ext cx="332105" cy="112776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生产制造部</a:t>
            </a:r>
          </a:p>
        </p:txBody>
      </p:sp>
      <p:cxnSp>
        <p:nvCxnSpPr>
          <p:cNvPr id="64" name="直接连接符 63"/>
          <p:cNvCxnSpPr/>
          <p:nvPr/>
        </p:nvCxnSpPr>
        <p:spPr>
          <a:xfrm>
            <a:off x="3502660" y="359473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67640" y="6364605"/>
            <a:ext cx="1330960" cy="377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2026.4.8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88690" y="114935"/>
            <a:ext cx="5325110" cy="7658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/>
              <a:t>公司组织架构图</a:t>
            </a:r>
          </a:p>
        </p:txBody>
      </p:sp>
      <p:sp>
        <p:nvSpPr>
          <p:cNvPr id="9" name="矩形 8"/>
          <p:cNvSpPr/>
          <p:nvPr/>
        </p:nvSpPr>
        <p:spPr>
          <a:xfrm>
            <a:off x="166370" y="116205"/>
            <a:ext cx="11896725" cy="6624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531628" y="3528204"/>
            <a:ext cx="2228825" cy="337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521277" y="356425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944822" y="356616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/>
          <p:cNvCxnSpPr>
            <a:endCxn id="93" idx="0"/>
          </p:cNvCxnSpPr>
          <p:nvPr/>
        </p:nvCxnSpPr>
        <p:spPr>
          <a:xfrm rot="5400000">
            <a:off x="1259581" y="3672725"/>
            <a:ext cx="265166" cy="106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rot="16200000" flipH="1">
            <a:off x="1575454" y="3824681"/>
            <a:ext cx="569342" cy="108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321887" y="3771900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销售</a:t>
            </a:r>
            <a:endParaRPr lang="en-US" altLang="zh-CN" sz="1400" dirty="0" smtClean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部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769562" y="3778885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项目销售部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1699287" y="3778885"/>
            <a:ext cx="312420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大客户部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82" name="圆角矩形 81"/>
          <p:cNvSpPr/>
          <p:nvPr/>
        </p:nvSpPr>
        <p:spPr>
          <a:xfrm>
            <a:off x="2141882" y="3771900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售后</a:t>
            </a:r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服务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83" name="直接连接符 82"/>
          <p:cNvCxnSpPr>
            <a:endCxn id="82" idx="0"/>
          </p:cNvCxnSpPr>
          <p:nvPr/>
        </p:nvCxnSpPr>
        <p:spPr>
          <a:xfrm rot="16200000" flipH="1">
            <a:off x="2188061" y="3652025"/>
            <a:ext cx="235067" cy="46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圆角矩形 83"/>
          <p:cNvSpPr/>
          <p:nvPr/>
        </p:nvSpPr>
        <p:spPr>
          <a:xfrm>
            <a:off x="2595272" y="3761740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客户服务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44" name="直接连接符 43"/>
          <p:cNvCxnSpPr/>
          <p:nvPr/>
        </p:nvCxnSpPr>
        <p:spPr>
          <a:xfrm rot="16200000" flipH="1">
            <a:off x="7020680" y="2822060"/>
            <a:ext cx="283270" cy="47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圆角矩形 59"/>
          <p:cNvSpPr/>
          <p:nvPr/>
        </p:nvSpPr>
        <p:spPr>
          <a:xfrm>
            <a:off x="3347720" y="3830320"/>
            <a:ext cx="332105" cy="113919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 dirty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计划</a:t>
            </a:r>
            <a:r>
              <a:rPr lang="zh-CN" altLang="zh-CN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与</a:t>
            </a:r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采购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10638155" y="3581400"/>
            <a:ext cx="9055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10639425" y="357187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11062970" y="357378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11062335" y="3369310"/>
            <a:ext cx="0" cy="210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圆角矩形 67"/>
          <p:cNvSpPr/>
          <p:nvPr/>
        </p:nvSpPr>
        <p:spPr>
          <a:xfrm>
            <a:off x="10419715" y="3798570"/>
            <a:ext cx="332105" cy="11328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人力资源</a:t>
            </a:r>
          </a:p>
        </p:txBody>
      </p:sp>
      <p:sp>
        <p:nvSpPr>
          <p:cNvPr id="100" name="圆角矩形 99"/>
          <p:cNvSpPr/>
          <p:nvPr/>
        </p:nvSpPr>
        <p:spPr>
          <a:xfrm>
            <a:off x="10877550" y="3805555"/>
            <a:ext cx="332105" cy="11328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行政管理</a:t>
            </a:r>
          </a:p>
        </p:txBody>
      </p:sp>
      <p:cxnSp>
        <p:nvCxnSpPr>
          <p:cNvPr id="103" name="直接连接符 102"/>
          <p:cNvCxnSpPr/>
          <p:nvPr/>
        </p:nvCxnSpPr>
        <p:spPr>
          <a:xfrm>
            <a:off x="11543665" y="356997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圆角矩形 103"/>
          <p:cNvSpPr/>
          <p:nvPr/>
        </p:nvSpPr>
        <p:spPr>
          <a:xfrm>
            <a:off x="11357610" y="3778885"/>
            <a:ext cx="332105" cy="11328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信息管理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8430260" y="2965450"/>
            <a:ext cx="1445895" cy="38735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品质管理部</a:t>
            </a:r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9140190" y="2672080"/>
            <a:ext cx="635" cy="31813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3" name="圆角矩形 62"/>
          <p:cNvSpPr/>
          <p:nvPr/>
        </p:nvSpPr>
        <p:spPr>
          <a:xfrm>
            <a:off x="6419215" y="2982595"/>
            <a:ext cx="1608366" cy="38735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技术研发中心</a:t>
            </a:r>
            <a:endParaRPr lang="zh-CN" altLang="en-US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115" name="直接连接符 114"/>
          <p:cNvCxnSpPr/>
          <p:nvPr/>
        </p:nvCxnSpPr>
        <p:spPr>
          <a:xfrm>
            <a:off x="3078540" y="5183038"/>
            <a:ext cx="9055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3079810" y="5173513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>
            <a:off x="3503355" y="5175418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>
            <a:off x="3502720" y="4970948"/>
            <a:ext cx="0" cy="210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圆角矩形 119"/>
          <p:cNvSpPr/>
          <p:nvPr/>
        </p:nvSpPr>
        <p:spPr>
          <a:xfrm>
            <a:off x="2860100" y="5400208"/>
            <a:ext cx="332105" cy="11328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材料库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21" name="圆角矩形 120"/>
          <p:cNvSpPr/>
          <p:nvPr/>
        </p:nvSpPr>
        <p:spPr>
          <a:xfrm>
            <a:off x="3317935" y="5407193"/>
            <a:ext cx="332105" cy="11328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成品库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122" name="直接连接符 121"/>
          <p:cNvCxnSpPr/>
          <p:nvPr/>
        </p:nvCxnSpPr>
        <p:spPr>
          <a:xfrm>
            <a:off x="3984050" y="5171608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圆角矩形 122"/>
          <p:cNvSpPr/>
          <p:nvPr/>
        </p:nvSpPr>
        <p:spPr>
          <a:xfrm>
            <a:off x="3797995" y="5380523"/>
            <a:ext cx="332105" cy="11328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模具库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124" name="直接连接符 123"/>
          <p:cNvCxnSpPr/>
          <p:nvPr/>
        </p:nvCxnSpPr>
        <p:spPr>
          <a:xfrm>
            <a:off x="6006131" y="5195582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5161137" y="5189424"/>
            <a:ext cx="1764991" cy="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直接连接符 125"/>
          <p:cNvCxnSpPr/>
          <p:nvPr/>
        </p:nvCxnSpPr>
        <p:spPr>
          <a:xfrm>
            <a:off x="5150786" y="5191772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>
            <a:off x="5574331" y="5193677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 flipH="1">
            <a:off x="5998511" y="4950472"/>
            <a:ext cx="2540" cy="2578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6495081" y="5177802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圆角矩形 129"/>
          <p:cNvSpPr/>
          <p:nvPr/>
        </p:nvSpPr>
        <p:spPr>
          <a:xfrm>
            <a:off x="4951396" y="5399417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电机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31" name="圆角矩形 130"/>
          <p:cNvSpPr/>
          <p:nvPr/>
        </p:nvSpPr>
        <p:spPr>
          <a:xfrm>
            <a:off x="5399071" y="5406402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金加工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32" name="圆角矩形 131"/>
          <p:cNvSpPr/>
          <p:nvPr/>
        </p:nvSpPr>
        <p:spPr>
          <a:xfrm>
            <a:off x="5854366" y="5406402"/>
            <a:ext cx="312420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装配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33" name="圆角矩形 132"/>
          <p:cNvSpPr/>
          <p:nvPr/>
        </p:nvSpPr>
        <p:spPr>
          <a:xfrm>
            <a:off x="6296961" y="5399417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喷涂与包装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134" name="直接连接符 133"/>
          <p:cNvCxnSpPr/>
          <p:nvPr/>
        </p:nvCxnSpPr>
        <p:spPr>
          <a:xfrm>
            <a:off x="6912276" y="5178437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圆角矩形 134"/>
          <p:cNvSpPr/>
          <p:nvPr/>
        </p:nvSpPr>
        <p:spPr>
          <a:xfrm>
            <a:off x="6750351" y="5389257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设备工装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136" name="直接连接符 135"/>
          <p:cNvCxnSpPr/>
          <p:nvPr/>
        </p:nvCxnSpPr>
        <p:spPr>
          <a:xfrm>
            <a:off x="6759144" y="3592902"/>
            <a:ext cx="9055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/>
        </p:nvCxnSpPr>
        <p:spPr>
          <a:xfrm>
            <a:off x="6760414" y="3583377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>
            <a:off x="7183959" y="3585282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/>
        </p:nvCxnSpPr>
        <p:spPr>
          <a:xfrm>
            <a:off x="7183324" y="3380812"/>
            <a:ext cx="0" cy="210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圆角矩形 139"/>
          <p:cNvSpPr/>
          <p:nvPr/>
        </p:nvSpPr>
        <p:spPr>
          <a:xfrm>
            <a:off x="6540704" y="3810072"/>
            <a:ext cx="332105" cy="11328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产品开发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6998539" y="3817057"/>
            <a:ext cx="332105" cy="11328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技术与工艺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164" name="直接连接符 163"/>
          <p:cNvCxnSpPr/>
          <p:nvPr/>
        </p:nvCxnSpPr>
        <p:spPr>
          <a:xfrm>
            <a:off x="7664654" y="3581472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圆角矩形 164"/>
          <p:cNvSpPr/>
          <p:nvPr/>
        </p:nvSpPr>
        <p:spPr>
          <a:xfrm>
            <a:off x="7478599" y="3790387"/>
            <a:ext cx="332105" cy="11328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新产品试制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166" name="直接连接符 165"/>
          <p:cNvCxnSpPr/>
          <p:nvPr/>
        </p:nvCxnSpPr>
        <p:spPr>
          <a:xfrm>
            <a:off x="8717340" y="3575649"/>
            <a:ext cx="9055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直接连接符 166"/>
          <p:cNvCxnSpPr/>
          <p:nvPr/>
        </p:nvCxnSpPr>
        <p:spPr>
          <a:xfrm>
            <a:off x="8718610" y="3566124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8" name="直接连接符 167"/>
          <p:cNvCxnSpPr/>
          <p:nvPr/>
        </p:nvCxnSpPr>
        <p:spPr>
          <a:xfrm>
            <a:off x="9142155" y="3568029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直接连接符 168"/>
          <p:cNvCxnSpPr/>
          <p:nvPr/>
        </p:nvCxnSpPr>
        <p:spPr>
          <a:xfrm>
            <a:off x="9141520" y="3363559"/>
            <a:ext cx="0" cy="210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圆角矩形 169"/>
          <p:cNvSpPr/>
          <p:nvPr/>
        </p:nvSpPr>
        <p:spPr>
          <a:xfrm>
            <a:off x="8498900" y="3792819"/>
            <a:ext cx="332105" cy="1296766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检验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71" name="圆角矩形 170"/>
          <p:cNvSpPr/>
          <p:nvPr/>
        </p:nvSpPr>
        <p:spPr>
          <a:xfrm>
            <a:off x="8956735" y="3799804"/>
            <a:ext cx="332105" cy="1281154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电机性能检测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172" name="直接连接符 171"/>
          <p:cNvCxnSpPr/>
          <p:nvPr/>
        </p:nvCxnSpPr>
        <p:spPr>
          <a:xfrm>
            <a:off x="9622850" y="3564219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3" name="圆角矩形 172"/>
          <p:cNvSpPr/>
          <p:nvPr/>
        </p:nvSpPr>
        <p:spPr>
          <a:xfrm>
            <a:off x="9436795" y="3773134"/>
            <a:ext cx="332105" cy="1299198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型式性能试验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3562717" y="4891177"/>
            <a:ext cx="931653" cy="28467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 smtClean="0">
                <a:solidFill>
                  <a:schemeClr val="tx1"/>
                </a:solidFill>
              </a:rPr>
              <a:t>财务监管</a:t>
            </a:r>
            <a:endParaRPr lang="zh-CN" altLang="en-US" sz="1200" b="1" dirty="0">
              <a:solidFill>
                <a:schemeClr val="tx1"/>
              </a:solidFill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1220795" y="3810623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外贸部</a:t>
            </a:r>
            <a:endParaRPr lang="zh-CN" altLang="zh-CN" sz="1400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 rot="16200000" flipH="1">
            <a:off x="2668265" y="3640524"/>
            <a:ext cx="235067" cy="46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直接连接符 145"/>
          <p:cNvCxnSpPr/>
          <p:nvPr/>
        </p:nvCxnSpPr>
        <p:spPr>
          <a:xfrm rot="16200000" flipH="1">
            <a:off x="8383000" y="3417935"/>
            <a:ext cx="1549676" cy="104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7289165" y="520827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765675" y="2657475"/>
            <a:ext cx="5715" cy="935990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241675" y="521716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3239770" y="5220970"/>
            <a:ext cx="506095" cy="4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3745230" y="521652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1706245" y="356806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6428105" y="521589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568315" y="882650"/>
            <a:ext cx="107442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8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董事会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5574030" y="1530985"/>
            <a:ext cx="1078230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8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总经理</a:t>
            </a:r>
          </a:p>
        </p:txBody>
      </p:sp>
      <p:cxnSp>
        <p:nvCxnSpPr>
          <p:cNvPr id="36" name="直接连接符 35"/>
          <p:cNvCxnSpPr/>
          <p:nvPr/>
        </p:nvCxnSpPr>
        <p:spPr>
          <a:xfrm>
            <a:off x="6107430" y="1904365"/>
            <a:ext cx="12065" cy="75882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5459330" y="2299220"/>
            <a:ext cx="1295063" cy="10157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8" name="文本框 37"/>
          <p:cNvSpPr txBox="1"/>
          <p:nvPr/>
        </p:nvSpPr>
        <p:spPr>
          <a:xfrm>
            <a:off x="4608830" y="2105025"/>
            <a:ext cx="1031875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8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财务部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594475" y="2105025"/>
            <a:ext cx="1005205" cy="3657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18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法务部</a:t>
            </a:r>
          </a:p>
        </p:txBody>
      </p:sp>
      <p:cxnSp>
        <p:nvCxnSpPr>
          <p:cNvPr id="40" name="直接连接符 39"/>
          <p:cNvCxnSpPr/>
          <p:nvPr/>
        </p:nvCxnSpPr>
        <p:spPr>
          <a:xfrm flipV="1">
            <a:off x="1698625" y="2648309"/>
            <a:ext cx="9360439" cy="7896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1711960" y="2651760"/>
            <a:ext cx="5080" cy="27749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3" name="圆角矩形 42"/>
          <p:cNvSpPr/>
          <p:nvPr/>
        </p:nvSpPr>
        <p:spPr>
          <a:xfrm>
            <a:off x="1171575" y="2940050"/>
            <a:ext cx="1191895" cy="38735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营销中心</a:t>
            </a:r>
          </a:p>
        </p:txBody>
      </p:sp>
      <p:sp>
        <p:nvSpPr>
          <p:cNvPr id="47" name="圆角矩形 46"/>
          <p:cNvSpPr/>
          <p:nvPr/>
        </p:nvSpPr>
        <p:spPr>
          <a:xfrm>
            <a:off x="3938270" y="2988945"/>
            <a:ext cx="1660525" cy="39814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生产营运中心</a:t>
            </a:r>
          </a:p>
        </p:txBody>
      </p:sp>
      <p:cxnSp>
        <p:nvCxnSpPr>
          <p:cNvPr id="73" name="直接连接符 72"/>
          <p:cNvCxnSpPr>
            <a:endCxn id="35" idx="0"/>
          </p:cNvCxnSpPr>
          <p:nvPr/>
        </p:nvCxnSpPr>
        <p:spPr>
          <a:xfrm flipH="1">
            <a:off x="6113145" y="1248410"/>
            <a:ext cx="6350" cy="28257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2" name="圆角矩形 11"/>
          <p:cNvSpPr/>
          <p:nvPr/>
        </p:nvSpPr>
        <p:spPr>
          <a:xfrm>
            <a:off x="10317480" y="2973070"/>
            <a:ext cx="1445895" cy="38735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行政中心</a:t>
            </a:r>
          </a:p>
        </p:txBody>
      </p:sp>
      <p:cxnSp>
        <p:nvCxnSpPr>
          <p:cNvPr id="15" name="直接连接符 14"/>
          <p:cNvCxnSpPr/>
          <p:nvPr/>
        </p:nvCxnSpPr>
        <p:spPr>
          <a:xfrm flipH="1">
            <a:off x="11050665" y="2646309"/>
            <a:ext cx="635" cy="31813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3496310" y="3581400"/>
            <a:ext cx="2525395" cy="76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H="1">
            <a:off x="6010910" y="3581400"/>
            <a:ext cx="6350" cy="3587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圆角矩形 60"/>
          <p:cNvSpPr/>
          <p:nvPr/>
        </p:nvSpPr>
        <p:spPr>
          <a:xfrm>
            <a:off x="5831205" y="3827780"/>
            <a:ext cx="332105" cy="112776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生产制造部</a:t>
            </a:r>
          </a:p>
        </p:txBody>
      </p:sp>
      <p:cxnSp>
        <p:nvCxnSpPr>
          <p:cNvPr id="64" name="直接连接符 63"/>
          <p:cNvCxnSpPr/>
          <p:nvPr/>
        </p:nvCxnSpPr>
        <p:spPr>
          <a:xfrm>
            <a:off x="3502660" y="359473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67640" y="6364605"/>
            <a:ext cx="1330960" cy="377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2025.6.8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88690" y="114935"/>
            <a:ext cx="5325110" cy="7658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/>
              <a:t>公司组织架构图</a:t>
            </a:r>
          </a:p>
        </p:txBody>
      </p:sp>
      <p:sp>
        <p:nvSpPr>
          <p:cNvPr id="9" name="矩形 8"/>
          <p:cNvSpPr/>
          <p:nvPr/>
        </p:nvSpPr>
        <p:spPr>
          <a:xfrm>
            <a:off x="166370" y="116205"/>
            <a:ext cx="11896725" cy="6624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" name="直接连接符 70"/>
          <p:cNvCxnSpPr/>
          <p:nvPr/>
        </p:nvCxnSpPr>
        <p:spPr>
          <a:xfrm>
            <a:off x="4684395" y="5208270"/>
            <a:ext cx="2621280" cy="12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>
            <a:off x="4690745" y="522033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5114290" y="522224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5555615" y="521525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6022975" y="521906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圆角矩形 76"/>
          <p:cNvSpPr/>
          <p:nvPr/>
        </p:nvSpPr>
        <p:spPr>
          <a:xfrm>
            <a:off x="4480560" y="5403850"/>
            <a:ext cx="332105" cy="126428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电机</a:t>
            </a:r>
          </a:p>
        </p:txBody>
      </p:sp>
      <p:sp>
        <p:nvSpPr>
          <p:cNvPr id="78" name="圆角矩形 77"/>
          <p:cNvSpPr/>
          <p:nvPr/>
        </p:nvSpPr>
        <p:spPr>
          <a:xfrm>
            <a:off x="4938395" y="5410835"/>
            <a:ext cx="332105" cy="126428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金加工</a:t>
            </a:r>
          </a:p>
        </p:txBody>
      </p:sp>
      <p:sp>
        <p:nvSpPr>
          <p:cNvPr id="79" name="圆角矩形 78"/>
          <p:cNvSpPr/>
          <p:nvPr/>
        </p:nvSpPr>
        <p:spPr>
          <a:xfrm>
            <a:off x="5403850" y="5410835"/>
            <a:ext cx="312420" cy="126428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装配</a:t>
            </a:r>
          </a:p>
        </p:txBody>
      </p:sp>
      <p:sp>
        <p:nvSpPr>
          <p:cNvPr id="80" name="圆角矩形 79"/>
          <p:cNvSpPr/>
          <p:nvPr/>
        </p:nvSpPr>
        <p:spPr>
          <a:xfrm>
            <a:off x="5846445" y="5403850"/>
            <a:ext cx="332105" cy="126428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2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表面处理与涂层</a:t>
            </a:r>
          </a:p>
        </p:txBody>
      </p:sp>
      <p:sp>
        <p:nvSpPr>
          <p:cNvPr id="119" name="圆角矩形 118"/>
          <p:cNvSpPr/>
          <p:nvPr/>
        </p:nvSpPr>
        <p:spPr>
          <a:xfrm>
            <a:off x="3093720" y="5411470"/>
            <a:ext cx="332105" cy="126428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材料库</a:t>
            </a:r>
          </a:p>
        </p:txBody>
      </p:sp>
      <p:cxnSp>
        <p:nvCxnSpPr>
          <p:cNvPr id="2" name="直接连接符 1"/>
          <p:cNvCxnSpPr/>
          <p:nvPr/>
        </p:nvCxnSpPr>
        <p:spPr>
          <a:xfrm>
            <a:off x="452120" y="3557270"/>
            <a:ext cx="26441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850900" y="356425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1274445" y="356616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H="1">
            <a:off x="1698625" y="3322955"/>
            <a:ext cx="2540" cy="2578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195195" y="355028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651510" y="3771900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外贸部</a:t>
            </a:r>
          </a:p>
        </p:txBody>
      </p:sp>
      <p:sp>
        <p:nvSpPr>
          <p:cNvPr id="42" name="圆角矩形 41"/>
          <p:cNvSpPr/>
          <p:nvPr/>
        </p:nvSpPr>
        <p:spPr>
          <a:xfrm>
            <a:off x="1099185" y="3778885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大客户部</a:t>
            </a:r>
          </a:p>
        </p:txBody>
      </p:sp>
      <p:sp>
        <p:nvSpPr>
          <p:cNvPr id="81" name="圆角矩形 80"/>
          <p:cNvSpPr/>
          <p:nvPr/>
        </p:nvSpPr>
        <p:spPr>
          <a:xfrm>
            <a:off x="1554480" y="3778885"/>
            <a:ext cx="312420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技术支持</a:t>
            </a:r>
          </a:p>
        </p:txBody>
      </p:sp>
      <p:sp>
        <p:nvSpPr>
          <p:cNvPr id="82" name="圆角矩形 81"/>
          <p:cNvSpPr/>
          <p:nvPr/>
        </p:nvSpPr>
        <p:spPr>
          <a:xfrm>
            <a:off x="1997075" y="3771900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市场推广</a:t>
            </a:r>
          </a:p>
        </p:txBody>
      </p:sp>
      <p:cxnSp>
        <p:nvCxnSpPr>
          <p:cNvPr id="83" name="直接连接符 82"/>
          <p:cNvCxnSpPr/>
          <p:nvPr/>
        </p:nvCxnSpPr>
        <p:spPr>
          <a:xfrm>
            <a:off x="2612390" y="355092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圆角矩形 83"/>
          <p:cNvSpPr/>
          <p:nvPr/>
        </p:nvSpPr>
        <p:spPr>
          <a:xfrm>
            <a:off x="2450465" y="3761740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客户服务</a:t>
            </a:r>
          </a:p>
        </p:txBody>
      </p:sp>
      <p:cxnSp>
        <p:nvCxnSpPr>
          <p:cNvPr id="44" name="直接连接符 43"/>
          <p:cNvCxnSpPr/>
          <p:nvPr/>
        </p:nvCxnSpPr>
        <p:spPr>
          <a:xfrm flipH="1">
            <a:off x="7164705" y="2651125"/>
            <a:ext cx="7620" cy="314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圆角矩形 59"/>
          <p:cNvSpPr/>
          <p:nvPr/>
        </p:nvSpPr>
        <p:spPr>
          <a:xfrm>
            <a:off x="3347720" y="3830320"/>
            <a:ext cx="332105" cy="113919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计划与物控</a:t>
            </a:r>
          </a:p>
        </p:txBody>
      </p:sp>
      <p:sp>
        <p:nvSpPr>
          <p:cNvPr id="62" name="圆角矩形 61"/>
          <p:cNvSpPr/>
          <p:nvPr/>
        </p:nvSpPr>
        <p:spPr>
          <a:xfrm>
            <a:off x="6300470" y="5394960"/>
            <a:ext cx="332105" cy="126428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包装</a:t>
            </a:r>
          </a:p>
        </p:txBody>
      </p:sp>
      <p:cxnSp>
        <p:nvCxnSpPr>
          <p:cNvPr id="67" name="直接连接符 66"/>
          <p:cNvCxnSpPr/>
          <p:nvPr/>
        </p:nvCxnSpPr>
        <p:spPr>
          <a:xfrm>
            <a:off x="6007100" y="4967605"/>
            <a:ext cx="1270" cy="2508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10638155" y="3581400"/>
            <a:ext cx="9055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10639425" y="357187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11062970" y="357378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>
            <a:off x="11062335" y="3369310"/>
            <a:ext cx="0" cy="210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圆角矩形 67"/>
          <p:cNvSpPr/>
          <p:nvPr/>
        </p:nvSpPr>
        <p:spPr>
          <a:xfrm>
            <a:off x="10419715" y="3798570"/>
            <a:ext cx="332105" cy="11328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人力资源</a:t>
            </a:r>
          </a:p>
        </p:txBody>
      </p:sp>
      <p:sp>
        <p:nvSpPr>
          <p:cNvPr id="100" name="圆角矩形 99"/>
          <p:cNvSpPr/>
          <p:nvPr/>
        </p:nvSpPr>
        <p:spPr>
          <a:xfrm>
            <a:off x="10877550" y="3805555"/>
            <a:ext cx="332105" cy="11328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行政管理</a:t>
            </a:r>
          </a:p>
        </p:txBody>
      </p:sp>
      <p:cxnSp>
        <p:nvCxnSpPr>
          <p:cNvPr id="103" name="直接连接符 102"/>
          <p:cNvCxnSpPr/>
          <p:nvPr/>
        </p:nvCxnSpPr>
        <p:spPr>
          <a:xfrm>
            <a:off x="11543665" y="356997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" name="圆角矩形 103"/>
          <p:cNvSpPr/>
          <p:nvPr/>
        </p:nvSpPr>
        <p:spPr>
          <a:xfrm>
            <a:off x="11357610" y="3778885"/>
            <a:ext cx="332105" cy="11328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信息管理</a:t>
            </a:r>
          </a:p>
        </p:txBody>
      </p:sp>
      <p:cxnSp>
        <p:nvCxnSpPr>
          <p:cNvPr id="85" name="直接连接符 84"/>
          <p:cNvCxnSpPr/>
          <p:nvPr/>
        </p:nvCxnSpPr>
        <p:spPr>
          <a:xfrm flipH="1">
            <a:off x="4188460" y="3604895"/>
            <a:ext cx="635" cy="591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圆角矩形 85"/>
          <p:cNvSpPr/>
          <p:nvPr/>
        </p:nvSpPr>
        <p:spPr>
          <a:xfrm>
            <a:off x="4003675" y="3852545"/>
            <a:ext cx="332105" cy="116078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采购部</a:t>
            </a:r>
          </a:p>
        </p:txBody>
      </p:sp>
      <p:cxnSp>
        <p:nvCxnSpPr>
          <p:cNvPr id="10" name="直接连接符 9"/>
          <p:cNvCxnSpPr/>
          <p:nvPr/>
        </p:nvCxnSpPr>
        <p:spPr>
          <a:xfrm flipH="1">
            <a:off x="3517265" y="4970780"/>
            <a:ext cx="4445" cy="2482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圆角矩形 15"/>
          <p:cNvSpPr/>
          <p:nvPr/>
        </p:nvSpPr>
        <p:spPr>
          <a:xfrm>
            <a:off x="3519170" y="5406390"/>
            <a:ext cx="332105" cy="126428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成品库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4177665" y="4992370"/>
            <a:ext cx="3175" cy="8267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4030345" y="5414010"/>
            <a:ext cx="312420" cy="126428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模具管理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3074670" y="355600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2888615" y="3764915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售后服务</a:t>
            </a:r>
          </a:p>
        </p:txBody>
      </p:sp>
      <p:cxnSp>
        <p:nvCxnSpPr>
          <p:cNvPr id="28" name="直接连接符 27"/>
          <p:cNvCxnSpPr/>
          <p:nvPr/>
        </p:nvCxnSpPr>
        <p:spPr>
          <a:xfrm>
            <a:off x="10782935" y="519493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781030" y="5198745"/>
            <a:ext cx="506095" cy="4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1037570" y="4937760"/>
            <a:ext cx="6350" cy="2508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11286490" y="519430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/>
        </p:nvSpPr>
        <p:spPr>
          <a:xfrm>
            <a:off x="10666730" y="5395595"/>
            <a:ext cx="312420" cy="108077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环境与安全</a:t>
            </a:r>
          </a:p>
        </p:txBody>
      </p:sp>
      <p:sp>
        <p:nvSpPr>
          <p:cNvPr id="33" name="圆角矩形 32"/>
          <p:cNvSpPr/>
          <p:nvPr/>
        </p:nvSpPr>
        <p:spPr>
          <a:xfrm>
            <a:off x="11109325" y="5388610"/>
            <a:ext cx="332105" cy="108077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后勤保障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438785" y="354457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239395" y="3752215"/>
            <a:ext cx="332105" cy="117030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销售部</a:t>
            </a:r>
          </a:p>
        </p:txBody>
      </p:sp>
      <p:cxnSp>
        <p:nvCxnSpPr>
          <p:cNvPr id="24" name="直接连接符 23"/>
          <p:cNvCxnSpPr/>
          <p:nvPr/>
        </p:nvCxnSpPr>
        <p:spPr>
          <a:xfrm>
            <a:off x="5150485" y="359918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圆角矩形 24"/>
          <p:cNvSpPr/>
          <p:nvPr/>
        </p:nvSpPr>
        <p:spPr>
          <a:xfrm>
            <a:off x="4985385" y="3822700"/>
            <a:ext cx="332105" cy="118745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工艺与技术</a:t>
            </a:r>
          </a:p>
        </p:txBody>
      </p:sp>
      <p:sp>
        <p:nvSpPr>
          <p:cNvPr id="26" name="圆角矩形 25"/>
          <p:cNvSpPr/>
          <p:nvPr/>
        </p:nvSpPr>
        <p:spPr>
          <a:xfrm>
            <a:off x="8430260" y="2965450"/>
            <a:ext cx="1445895" cy="38735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品质管理部</a:t>
            </a:r>
          </a:p>
        </p:txBody>
      </p:sp>
      <p:cxnSp>
        <p:nvCxnSpPr>
          <p:cNvPr id="55" name="直接连接符 54"/>
          <p:cNvCxnSpPr/>
          <p:nvPr/>
        </p:nvCxnSpPr>
        <p:spPr>
          <a:xfrm>
            <a:off x="6856730" y="521017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圆角矩形 58"/>
          <p:cNvSpPr/>
          <p:nvPr/>
        </p:nvSpPr>
        <p:spPr>
          <a:xfrm>
            <a:off x="6729095" y="5389245"/>
            <a:ext cx="332105" cy="126428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设备管理</a:t>
            </a:r>
          </a:p>
        </p:txBody>
      </p:sp>
      <p:sp>
        <p:nvSpPr>
          <p:cNvPr id="63" name="圆角矩形 62"/>
          <p:cNvSpPr/>
          <p:nvPr/>
        </p:nvSpPr>
        <p:spPr>
          <a:xfrm>
            <a:off x="6419215" y="2982595"/>
            <a:ext cx="1608366" cy="38735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技术研发中心</a:t>
            </a:r>
            <a:endParaRPr lang="zh-CN" altLang="en-US" dirty="0">
              <a:solidFill>
                <a:schemeClr val="tx1"/>
              </a:solidFill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7149465" y="5393690"/>
            <a:ext cx="332105" cy="126428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新产品试制</a:t>
            </a:r>
          </a:p>
        </p:txBody>
      </p:sp>
      <p:cxnSp>
        <p:nvCxnSpPr>
          <p:cNvPr id="143" name="直接连接符 142"/>
          <p:cNvCxnSpPr/>
          <p:nvPr/>
        </p:nvCxnSpPr>
        <p:spPr>
          <a:xfrm>
            <a:off x="8157845" y="3646805"/>
            <a:ext cx="193421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flipH="1">
            <a:off x="8145780" y="3634740"/>
            <a:ext cx="11430" cy="8083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接连接符 144"/>
          <p:cNvCxnSpPr/>
          <p:nvPr/>
        </p:nvCxnSpPr>
        <p:spPr>
          <a:xfrm>
            <a:off x="8721725" y="364045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/>
        </p:nvCxnSpPr>
        <p:spPr>
          <a:xfrm>
            <a:off x="9649460" y="365125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圆角矩形 147"/>
          <p:cNvSpPr/>
          <p:nvPr/>
        </p:nvSpPr>
        <p:spPr>
          <a:xfrm>
            <a:off x="8003540" y="3822700"/>
            <a:ext cx="332105" cy="13614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进货检验</a:t>
            </a:r>
          </a:p>
        </p:txBody>
      </p:sp>
      <p:sp>
        <p:nvSpPr>
          <p:cNvPr id="149" name="圆角矩形 148"/>
          <p:cNvSpPr/>
          <p:nvPr/>
        </p:nvSpPr>
        <p:spPr>
          <a:xfrm>
            <a:off x="8545830" y="3841115"/>
            <a:ext cx="332105" cy="1362075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过程检验</a:t>
            </a:r>
          </a:p>
        </p:txBody>
      </p:sp>
      <p:sp>
        <p:nvSpPr>
          <p:cNvPr id="150" name="圆角矩形 149"/>
          <p:cNvSpPr/>
          <p:nvPr/>
        </p:nvSpPr>
        <p:spPr>
          <a:xfrm>
            <a:off x="9011285" y="3841115"/>
            <a:ext cx="312420" cy="13614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电机性能检测</a:t>
            </a:r>
          </a:p>
        </p:txBody>
      </p:sp>
      <p:sp>
        <p:nvSpPr>
          <p:cNvPr id="151" name="圆角矩形 150"/>
          <p:cNvSpPr/>
          <p:nvPr/>
        </p:nvSpPr>
        <p:spPr>
          <a:xfrm>
            <a:off x="9453880" y="3834130"/>
            <a:ext cx="332105" cy="13614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型式性能试验</a:t>
            </a:r>
          </a:p>
        </p:txBody>
      </p:sp>
      <p:cxnSp>
        <p:nvCxnSpPr>
          <p:cNvPr id="152" name="直接连接符 151"/>
          <p:cNvCxnSpPr/>
          <p:nvPr/>
        </p:nvCxnSpPr>
        <p:spPr>
          <a:xfrm>
            <a:off x="10079990" y="364363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圆角矩形 152"/>
          <p:cNvSpPr/>
          <p:nvPr/>
        </p:nvSpPr>
        <p:spPr>
          <a:xfrm>
            <a:off x="9930765" y="3876675"/>
            <a:ext cx="332105" cy="136144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成品出厂检验</a:t>
            </a:r>
          </a:p>
        </p:txBody>
      </p:sp>
      <p:cxnSp>
        <p:nvCxnSpPr>
          <p:cNvPr id="154" name="直接连接符 153"/>
          <p:cNvCxnSpPr/>
          <p:nvPr/>
        </p:nvCxnSpPr>
        <p:spPr>
          <a:xfrm flipH="1">
            <a:off x="8733155" y="5201285"/>
            <a:ext cx="5715" cy="1962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5" name="直接连接符 154"/>
          <p:cNvCxnSpPr/>
          <p:nvPr/>
        </p:nvCxnSpPr>
        <p:spPr>
          <a:xfrm flipV="1">
            <a:off x="8112125" y="5396230"/>
            <a:ext cx="1330960" cy="381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直接连接符 155"/>
          <p:cNvCxnSpPr/>
          <p:nvPr/>
        </p:nvCxnSpPr>
        <p:spPr>
          <a:xfrm>
            <a:off x="8109585" y="539813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直接连接符 156"/>
          <p:cNvCxnSpPr/>
          <p:nvPr/>
        </p:nvCxnSpPr>
        <p:spPr>
          <a:xfrm>
            <a:off x="8533130" y="5400040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8" name="直接连接符 157"/>
          <p:cNvCxnSpPr/>
          <p:nvPr/>
        </p:nvCxnSpPr>
        <p:spPr>
          <a:xfrm>
            <a:off x="8974455" y="539305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9" name="直接连接符 158"/>
          <p:cNvCxnSpPr/>
          <p:nvPr/>
        </p:nvCxnSpPr>
        <p:spPr>
          <a:xfrm>
            <a:off x="9441815" y="5396865"/>
            <a:ext cx="0" cy="5645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0" name="圆角矩形 159"/>
          <p:cNvSpPr/>
          <p:nvPr/>
        </p:nvSpPr>
        <p:spPr>
          <a:xfrm>
            <a:off x="7899400" y="5581650"/>
            <a:ext cx="332105" cy="108077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气密试压</a:t>
            </a:r>
          </a:p>
        </p:txBody>
      </p:sp>
      <p:sp>
        <p:nvSpPr>
          <p:cNvPr id="161" name="圆角矩形 160"/>
          <p:cNvSpPr/>
          <p:nvPr/>
        </p:nvSpPr>
        <p:spPr>
          <a:xfrm>
            <a:off x="8357235" y="5588635"/>
            <a:ext cx="332105" cy="108077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电机</a:t>
            </a:r>
          </a:p>
        </p:txBody>
      </p:sp>
      <p:sp>
        <p:nvSpPr>
          <p:cNvPr id="162" name="圆角矩形 161"/>
          <p:cNvSpPr/>
          <p:nvPr/>
        </p:nvSpPr>
        <p:spPr>
          <a:xfrm>
            <a:off x="8822690" y="5588635"/>
            <a:ext cx="312420" cy="108077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金加工</a:t>
            </a:r>
          </a:p>
        </p:txBody>
      </p:sp>
      <p:sp>
        <p:nvSpPr>
          <p:cNvPr id="163" name="圆角矩形 162"/>
          <p:cNvSpPr/>
          <p:nvPr/>
        </p:nvSpPr>
        <p:spPr>
          <a:xfrm>
            <a:off x="9265285" y="5581650"/>
            <a:ext cx="332105" cy="1080770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1400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rPr>
              <a:t>装配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8277" y="1406727"/>
            <a:ext cx="10330970" cy="5847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7012" y="332839"/>
            <a:ext cx="10330970" cy="5847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4015" y="293298"/>
            <a:ext cx="10374584" cy="5831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 descr="C:\Users\peng\AppData\Local\Temp\企业微信截图_1775557923880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9674" y="342001"/>
            <a:ext cx="10196424" cy="57745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42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42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168</Words>
  <Application>WPS 演示</Application>
  <PresentationFormat>自定义</PresentationFormat>
  <Paragraphs>84</Paragraphs>
  <Slides>6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peng</dc:creator>
  <cp:lastModifiedBy>peng</cp:lastModifiedBy>
  <cp:revision>12</cp:revision>
  <dcterms:created xsi:type="dcterms:W3CDTF">2015-05-05T08:02:00Z</dcterms:created>
  <dcterms:modified xsi:type="dcterms:W3CDTF">2026-04-07T10:33:30Z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2052-10.8.0.5562</vt:lpwstr>
  </property>
</Properties>
</file>